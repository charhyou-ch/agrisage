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(MAD)</c:v>
                </c:pt>
              </c:strCache>
            </c:strRef>
          </c:tx>
          <c:spPr>
            <a:solidFill>
              <a:srgbClr val="4A8C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C3D0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3200000</c:v>
                </c:pt>
                <c:pt idx="1">
                  <c:v>9800000</c:v>
                </c:pt>
                <c:pt idx="2">
                  <c:v>24500000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C3D0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AF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d'ouverture. Insistez sur le mot 'sagesse' — l'IA ne remplace pas l'agronome, elle le rend plus rapide. Mentionnez le contexte Maroc : 1er exportateur africain de tomate, pression croissante des exigences 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 point 2 (résistance) est souvent le plus impactant pour les investisseurs agronomiques. Appuyez sur le fait que la résistance est irréversible — une fois le champignon ou l'insecte résistant, le produit ne fonctionne 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la démo live ici si possible : POST /conseil avec culture=tomate, stade=floraison, dar_max=7 et montrez la réponse JSON en 180 ms. L'effet est immédiat.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chiffres TAM/SAM/SOM sont des estimations basées sur : données ONCA 2023, nombre d'exploitations certifiées GlobalGAP Maroc, panier moyen estimé d'abonnement. Préparez la fiche de calcul si demandé.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Pro est le cœur du modèle : GlobalGAP + SDK mobile couvrent le besoin des exportateurs. Horizon : 500 clients Pro à 12 mois = 2,94 M MAD ARR. Calcul détaillé en annexe.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1 : 200 clients Pro (2 940 000 MAD) + 450 Growth (1 566 000 MAD) = ~3,2 M MAD hors dépassements. Soyez prêts à défendre la croissance × 2,5 An1→An2 : elle repose sur le partenariat ONCA + distribution via agri-apps.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LOI sont signées avec Coopérative Tigmad (Agadir), COPAG (Taroudant) et un groupe privé sous NDA. Montrez les screenshots du dashboard pilote si disponibles. Le -30% refus export est l'argument commercial le plus 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Insistez sur la barrière de données : la structuration de l'index ONSSA avec les liens IRAC/FRAC/faune utile est notre vrai moat, pas le code. Un concurrent peut copier le code en 3 mois ; il ne peut pas créer la base de données en moins d'un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Mettez en avant la complémentarité : Khalid = légitimité terrain et ONCA, Salma = crédibilité tech investors, Youssef = accès direct aux coopératives (clients). Évitez de lire les bios — racontez une anecdote de terrain.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Soyez prêts à justifier les 22 % data : la structuration de l'index ONSSA est le cœur du moat. Sans cette base propre et à jour, pas d'API fiable. C'est une dépense défensive autant qu'offensive.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closing. Ne lisez pas — regardez les investisseurs. Résumez en une phrase : 'Nous avons la donnée, l'équipe et les premiers clients. Nous cherchons des partenaires pour accélérer.' Laissez le silence agir.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800000">
            <a:off x="594360" y="658368"/>
            <a:ext cx="731520" cy="411480"/>
          </a:xfrm>
          <a:prstGeom prst="ellipse">
            <a:avLst/>
          </a:prstGeom>
          <a:solidFill>
            <a:srgbClr val="4A8C2A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600000">
            <a:off x="658368" y="713232"/>
            <a:ext cx="731520" cy="411480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566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E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AgriSage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0424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4A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CONSEIL · TRAÇABILITÉ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sagesse agronomique,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portée de données.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336499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conseil phytosanitaire pour l'agriculture marocaine.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ONSSA · IRAC/FRAC/HRAC · GlobalGAP v6 · LMR export 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279392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2793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3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— 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841248" cy="1005840"/>
          </a:xfrm>
          <a:prstGeom prst="roundRect">
            <a:avLst>
              <a:gd name="adj" fmla="val 8696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78308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1 200+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176272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ONSSA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69480" y="1691640"/>
            <a:ext cx="841248" cy="1005840"/>
          </a:xfrm>
          <a:prstGeom prst="roundRect">
            <a:avLst>
              <a:gd name="adj" fmla="val 8696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78308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69480" y="2176272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Cultures indexées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0" y="1691640"/>
            <a:ext cx="841248" cy="1005840"/>
          </a:xfrm>
          <a:prstGeom prst="roundRect">
            <a:avLst>
              <a:gd name="adj" fmla="val 8696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783080"/>
            <a:ext cx="841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B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200ms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2176272"/>
            <a:ext cx="841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2025 · Confidentiel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D0F"/>
          </a:solidFill>
          <a:ln w="12700">
            <a:solidFill>
              <a:srgbClr val="1C3D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année au Maroc, des millions de dirhams de produits agricoles sont refusés à l'export européen pour non-conformité phytosanitaire.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75688"/>
            <a:ext cx="457200" cy="457200"/>
          </a:xfrm>
          <a:prstGeom prst="ellipse">
            <a:avLst/>
          </a:prstGeom>
          <a:solidFill>
            <a:srgbClr val="FBF0D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820A"/>
                </a:solidFill>
              </a:rPr>
              <a:t>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1984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d'outil centralisé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98448" y="224942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technicien jongle entre le PDF ONSSA (1 200 produits), les tableaux IRAC/FRAC Excel et les notes papier pour chaque conseil.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990088"/>
            <a:ext cx="457200" cy="457200"/>
          </a:xfrm>
          <a:prstGeom prst="ellipse">
            <a:avLst/>
          </a:prstGeom>
          <a:solidFill>
            <a:srgbClr val="FBF0D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53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820A"/>
                </a:solidFill>
              </a:rPr>
              <a:t>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8986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 résistance ignorée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16382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 des exploitations consultées n'ont aucun suivi des groupes FRAC/IRAC d'une saison à l'autre, accélérant la sélection de résistances.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904488"/>
            <a:ext cx="457200" cy="457200"/>
          </a:xfrm>
          <a:prstGeom prst="ellipse">
            <a:avLst/>
          </a:prstGeom>
          <a:solidFill>
            <a:srgbClr val="FBF0D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820A"/>
                </a:solidFill>
              </a:rPr>
              <a:t>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8448" y="38130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manuelle et non-conforme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407822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carnets de traitements sont tenus sur papier ou Excel. Les audits GlobalGAP prennent des jours à préparer — et échouent souvent.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API qui croise 6 référentiels en &lt; 200 ms — et retourne un conseil validé, traçable et conforme.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47472" cy="347472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ONSSA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1 200+ produits homologués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à jour en temps réel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14630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600200"/>
            <a:ext cx="347472" cy="347472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1627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Anti-résistance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011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IRAC · FRAC · HRAC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automatique des groupes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37960" y="14630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600200"/>
            <a:ext cx="347472" cy="347472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1627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Faune utile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2011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Toxicité abeilles &amp; auxiliaires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floraison automatique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1546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291840"/>
            <a:ext cx="347472" cy="347472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3192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GlobalGAP v6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BPA intégrée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PDF audit prêt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20440" y="31546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3291840"/>
            <a:ext cx="347472" cy="347472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33192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LMR export 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Règl. 396/2005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en temps réel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37960" y="31546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3291840"/>
            <a:ext cx="347472" cy="347472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291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33192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&amp; alertes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37033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webhooks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multi-parcelles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D0F"/>
          </a:solidFill>
          <a:ln w="12700">
            <a:solidFill>
              <a:srgbClr val="1C3D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Taille du marché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28800" cy="1828800"/>
          </a:xfrm>
          <a:prstGeom prst="ellipse">
            <a:avLst/>
          </a:prstGeom>
          <a:solidFill>
            <a:srgbClr val="4A8C2A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 Md MAD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phytosanitaire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Maroc + Maghreb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1828800" cy="1828800"/>
          </a:xfrm>
          <a:prstGeom prst="ellipse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 Md MAD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4612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Exploitations avec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export/audit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234440"/>
            <a:ext cx="1828800" cy="1828800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 M MAD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32461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3 ans :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coopératives + intégrateurs agri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Maroc : 1er exportateur africain de tomate &amp; agrumes — pression LMR UE croissante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2702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+12 % / an de produits certifiés GlobalGAP au Maroc depuis 2020 (ONCA)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5171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Aucun acteur API spécialisé phyto sur le marché marocain à ce jour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7640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Opportunité Maghreb (Tunisie, Algérie) dès la 2ème année d'exploitation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D0F"/>
          </a:solidFill>
          <a:ln w="12700">
            <a:solidFill>
              <a:srgbClr val="1C3D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économique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Gratuit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600200" cy="0"/>
          </a:xfrm>
          <a:prstGeom prst="line">
            <a:avLst/>
          </a:prstGeom>
          <a:noFill/>
          <a:ln w="6350">
            <a:solidFill>
              <a:srgbClr val="E8F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116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req/mois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ONSSA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508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290 MAD/mo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651760" y="1965960"/>
            <a:ext cx="1600200" cy="0"/>
          </a:xfrm>
          <a:prstGeom prst="line">
            <a:avLst/>
          </a:prstGeom>
          <a:noFill/>
          <a:ln w="6350">
            <a:solidFill>
              <a:srgbClr val="E8F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0116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req/mois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331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IRAC/FRAC/HRAC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09728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4A8C2A"/>
          </a:solidFill>
          <a:ln w="12700">
            <a:solidFill>
              <a:srgbClr val="4A8C2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98755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98755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3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1508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490 MAD/mo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800600" y="1965960"/>
            <a:ext cx="1600200" cy="0"/>
          </a:xfrm>
          <a:prstGeom prst="line">
            <a:avLst/>
          </a:prstGeom>
          <a:noFill/>
          <a:ln w="6350">
            <a:solidFill>
              <a:srgbClr val="6DB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0116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 req/mois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2331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GlobalGAP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mobile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097280"/>
            <a:ext cx="1965960" cy="26517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1508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1 490 MAD/mo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949440" y="1965960"/>
            <a:ext cx="1600200" cy="0"/>
          </a:xfrm>
          <a:prstGeom prst="line">
            <a:avLst/>
          </a:prstGeom>
          <a:noFill/>
          <a:ln w="6350">
            <a:solidFill>
              <a:srgbClr val="E8F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0116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 req/mois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23317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99.9 %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Leviers additionnels de revenus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224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Dépassements de quota : 0,03–0,05 MAD / requête supplémentaire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4531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Plan Entreprise (déploiement on-premise, Ministère, bailleurs) : sur devis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46817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Remise -50 % ONG / coopératives subventionnées → prescripteurs institutionnels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D0F"/>
          </a:solidFill>
          <a:ln w="12700">
            <a:solidFill>
              <a:srgbClr val="1C3D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Projections financières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1206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09728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1338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086600" y="112471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An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86600" y="13533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Pro · 450 Growth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52160" y="169164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172821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 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086600" y="17190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86600" y="194767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52160" y="228600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232257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24,5 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086600" y="23134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 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86600" y="25420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— objectif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52160" y="288036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0" y="291693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086600" y="29077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86600" y="31363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API, coûts serveur faibles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52160" y="3474720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943600" y="351129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 mois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086600" y="350215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86600" y="37307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moyen estimé 800 MAD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Hypothèses : taux de conversion Starter→Pro 8 %, churn mensuel &lt; 2 %, croissance organique via partenaires ONCA.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D0F"/>
          </a:solidFill>
          <a:ln w="12700">
            <a:solidFill>
              <a:srgbClr val="1C3D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 &amp; validation terrain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90195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61872"/>
            <a:ext cx="1901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79222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signées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04825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Coopératives Souss-Massa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190195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261872"/>
            <a:ext cx="1901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79222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en cours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04825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ha couverts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0195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261872"/>
            <a:ext cx="1901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-30 %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17720" y="179222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export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04825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exploitations pilotes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1143000"/>
            <a:ext cx="190195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F0E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261872"/>
            <a:ext cx="19019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8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 / 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1792224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techniciens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2048256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48 interviews terrain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18 mois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410712"/>
            <a:ext cx="0" cy="320040"/>
          </a:xfrm>
          <a:prstGeom prst="line">
            <a:avLst/>
          </a:prstGeom>
          <a:noFill/>
          <a:ln w="19050">
            <a:solidFill>
              <a:srgbClr val="6DB8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172968"/>
            <a:ext cx="237744" cy="237744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2025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31546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partenariat ONCA · SDK mobile v1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51560" y="3831336"/>
            <a:ext cx="0" cy="320040"/>
          </a:xfrm>
          <a:prstGeom prst="line">
            <a:avLst/>
          </a:prstGeom>
          <a:noFill/>
          <a:ln w="19050">
            <a:solidFill>
              <a:srgbClr val="6DB8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3593592"/>
            <a:ext cx="237744" cy="237744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3575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2025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51760" y="35753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de fonds clôturée · 5 intégrateurs agri-tech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51560" y="4251960"/>
            <a:ext cx="0" cy="320040"/>
          </a:xfrm>
          <a:prstGeom prst="line">
            <a:avLst/>
          </a:prstGeom>
          <a:noFill/>
          <a:ln w="19050">
            <a:solidFill>
              <a:srgbClr val="6DB8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" y="4014216"/>
            <a:ext cx="237744" cy="237744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99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51760" y="399592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Maghreb (Tunisie) · 1 000 clients actifs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" y="4434840"/>
            <a:ext cx="237744" cy="237744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88720" y="4416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651760" y="441655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météo prédictif · Break-even opérationnel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D0F"/>
          </a:solidFill>
          <a:ln w="12700">
            <a:solidFill>
              <a:srgbClr val="1C3D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 concurrentiel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AgriSage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ONSSA PDF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ERP agricole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Appli générique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0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Index ONSSA temps réel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8C2A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Anti-résistance IRAC/FRAC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8C2A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Conformité GlobalGAP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8C2A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SDK offline terrain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8C2A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Partiel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Alertes LMR export 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8C2A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API REST intégrable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8C2A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Partiel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Bilingue FR / AR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8C2A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Partiel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F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moat : l'index ONSSA structuré + les classements IRAC/FRAC combinés n'existent nulle part ailleurs sous forme d'API. Barrière à l'entrée : 8–12 mois de travail de structuration et de validation terrain.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L'équipe fondatrice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combinaison rare : agronomie de terrain + ingénierie API + connaissance du marché marocain.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60320" cy="3429000"/>
          </a:xfrm>
          <a:prstGeom prst="roundRect">
            <a:avLst>
              <a:gd name="adj" fmla="val 4286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572768"/>
            <a:ext cx="914400" cy="914400"/>
          </a:xfrm>
          <a:prstGeom prst="ellipse">
            <a:avLst/>
          </a:prstGeom>
          <a:solidFill>
            <a:srgbClr val="4A8C2A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572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Khalid Amrani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Co-fondateur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Ingénieur agronome IAV Hassan II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63931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 ans consultant phytosanitaire ONCA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98678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Expert GlobalGAP certifié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33425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Ex-chef projet digital INRA Maroc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417320"/>
            <a:ext cx="2560320" cy="3429000"/>
          </a:xfrm>
          <a:prstGeom prst="roundRect">
            <a:avLst>
              <a:gd name="adj" fmla="val 4286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572768"/>
            <a:ext cx="914400" cy="914400"/>
          </a:xfrm>
          <a:prstGeom prst="ellipse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572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Salma Benchekroun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Co-fondatrice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32918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MSc Computer Science — ENSIAS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63931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 ans API backend (Paris, Casablanca)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398678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Contributrice open-source agri-data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433425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Ex-tech lead Agritech startup (UAE)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417320"/>
            <a:ext cx="2560320" cy="3429000"/>
          </a:xfrm>
          <a:prstGeom prst="roundRect">
            <a:avLst>
              <a:gd name="adj" fmla="val 4286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1572768"/>
            <a:ext cx="914400" cy="914400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572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7220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Youssef Ouali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B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&amp; Co-fondateur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2918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MSc AgriManagement — AgroParisTech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363931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Ancien directeur export COPAG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398678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Spécialiste certification GlobalGAP &amp; 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433425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Réseau coopératives Souss-Massa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scientifique : Pr. Hassan Benali (IAV) · Dr. Naima Zouaïd (INRA) · M. Omar Tahiri (ONSSA, retraité)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3D0F"/>
          </a:solidFill>
          <a:ln w="12700">
            <a:solidFill>
              <a:srgbClr val="1C3D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Utilisation des fonds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D4EDB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3D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Levée cible : 4 500 000 MAD (~450 K€)  ·  Seed Round  ·  Equity 18 %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produit &amp;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2002536"/>
            <a:ext cx="5029200" cy="256032"/>
          </a:xfrm>
          <a:prstGeom prst="roundRect">
            <a:avLst>
              <a:gd name="adj" fmla="val 28571"/>
            </a:avLst>
          </a:prstGeom>
          <a:solidFill>
            <a:srgbClr val="E8F0E0"/>
          </a:solidFill>
          <a:ln w="12700">
            <a:solidFill>
              <a:srgbClr val="E8F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2002536"/>
            <a:ext cx="1911096" cy="256032"/>
          </a:xfrm>
          <a:prstGeom prst="roundRect">
            <a:avLst>
              <a:gd name="adj" fmla="val 28571"/>
            </a:avLst>
          </a:prstGeom>
          <a:solidFill>
            <a:srgbClr val="4A8C2A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37376" y="196596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8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· 1 710 000 MAD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structuration index ONSSA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505456"/>
            <a:ext cx="5029200" cy="256032"/>
          </a:xfrm>
          <a:prstGeom prst="roundRect">
            <a:avLst>
              <a:gd name="adj" fmla="val 28571"/>
            </a:avLst>
          </a:prstGeom>
          <a:solidFill>
            <a:srgbClr val="E8F0E0"/>
          </a:solidFill>
          <a:ln w="12700">
            <a:solidFill>
              <a:srgbClr val="E8F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505456"/>
            <a:ext cx="1106424" cy="256032"/>
          </a:xfrm>
          <a:prstGeom prst="roundRect">
            <a:avLst>
              <a:gd name="adj" fmla="val 28571"/>
            </a:avLst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32704" y="246888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B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· 990 000 MAD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partenariats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3008376"/>
            <a:ext cx="5029200" cy="256032"/>
          </a:xfrm>
          <a:prstGeom prst="roundRect">
            <a:avLst>
              <a:gd name="adj" fmla="val 28571"/>
            </a:avLst>
          </a:prstGeom>
          <a:solidFill>
            <a:srgbClr val="E8F0E0"/>
          </a:solidFill>
          <a:ln w="12700">
            <a:solidFill>
              <a:srgbClr val="E8F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3008376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· 900 000 MAD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sécurité cloud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3511296"/>
            <a:ext cx="5029200" cy="256032"/>
          </a:xfrm>
          <a:prstGeom prst="roundRect">
            <a:avLst>
              <a:gd name="adj" fmla="val 28571"/>
            </a:avLst>
          </a:prstGeom>
          <a:solidFill>
            <a:srgbClr val="E8F0E0"/>
          </a:solidFill>
          <a:ln w="12700">
            <a:solidFill>
              <a:srgbClr val="E8F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3511296"/>
            <a:ext cx="603504" cy="256032"/>
          </a:xfrm>
          <a:prstGeom prst="roundRect">
            <a:avLst>
              <a:gd name="adj" fmla="val 28571"/>
            </a:avLst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784" y="347472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5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· 540 000 MAD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Légal, certifications, divers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4014216"/>
            <a:ext cx="5029200" cy="256032"/>
          </a:xfrm>
          <a:prstGeom prst="roundRect">
            <a:avLst>
              <a:gd name="adj" fmla="val 28571"/>
            </a:avLst>
          </a:prstGeom>
          <a:solidFill>
            <a:srgbClr val="E8F0E0"/>
          </a:solidFill>
          <a:ln w="12700">
            <a:solidFill>
              <a:srgbClr val="E8F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4014216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8616" y="3977640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· 360 000 MAD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645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18 mois  ·  Break-even opérationnel prévu T2 2027  ·  Prochain tour : Série A T3 2027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3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011680" cy="2011680"/>
          </a:xfrm>
          <a:prstGeom prst="ellipse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029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B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AgriSage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L'agriculture marocaine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besoin de données —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nous les structurons.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2907792"/>
            <a:ext cx="182880" cy="182880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refus export grâce aux alertes LMR en temps réel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319272"/>
            <a:ext cx="182880" cy="182880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91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résistances via la rotation IRAC/FRAC automatique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730752"/>
            <a:ext cx="182880" cy="182880"/>
          </a:xfrm>
          <a:prstGeom prst="ellipse">
            <a:avLst/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paperasse avec la traçabilité GlobalGAP digitale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420624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2D5A1B"/>
          </a:solidFill>
          <a:ln w="12700">
            <a:solidFill>
              <a:srgbClr val="4A8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2062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contact@agrisage.ma  ·  agrisage.ma  ·  +212 6 00 00 00 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474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B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Rejoignez-nous 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0" y="4069080"/>
            <a:ext cx="2834640" cy="457200"/>
          </a:xfrm>
          <a:prstGeom prst="roundRect">
            <a:avLst>
              <a:gd name="adj" fmla="val 24000"/>
            </a:avLst>
          </a:prstGeom>
          <a:solidFill>
            <a:srgbClr val="6DB842"/>
          </a:solidFill>
          <a:ln w="12700">
            <a:solidFill>
              <a:srgbClr val="6DB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4069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3D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la data room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AgriSage — Pitch Deck Investisseurs 2025</dc:title>
  <dc:subject>PptxGenJS Presentation</dc:subject>
  <dc:creator>AgriSage</dc:creator>
  <cp:lastModifiedBy>AgriSage</cp:lastModifiedBy>
  <cp:revision>1</cp:revision>
  <dcterms:created xsi:type="dcterms:W3CDTF">2026-06-22T20:33:18Z</dcterms:created>
  <dcterms:modified xsi:type="dcterms:W3CDTF">2026-06-22T20:33:18Z</dcterms:modified>
</cp:coreProperties>
</file>